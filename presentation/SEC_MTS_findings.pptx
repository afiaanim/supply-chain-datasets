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tup" id="{24ecf202-61cb-f9f7-0516-ee8897df3aa5}">
          <p14:sldIdLst>
            <p14:sldId id="256"/>
          </p14:sldIdLst>
        </p14:section>
        <p14:section name="Fourier" id="{fe901b09-63ec-1491-f968-149b7eb1d00b}">
          <p14:sldIdLst>
            <p14:sldId id="257"/>
          </p14:sldIdLst>
        </p14:section>
        <p14:section name="Performance" id="{cc8e04f1-f77a-1680-0787-e64017ee0608}">
          <p14:sldIdLst>
            <p14:sldId id="258"/>
          </p14:sldIdLst>
        </p14:section>
        <p14:section name="TDA" id="{618c481f-6bb6-77db-bbad-2b3125cc9101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63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631"/>
                </a:solidFill>
                <a:latin typeface="+mn-lt"/>
              </a:rPr>
              <a:t>Share of signal power at 0.025 Hz (%), full-length FFT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Displacement</c:v>
                </c:pt>
              </c:strCache>
            </c:strRef>
          </c:tx>
          <c:spPr>
            <a:solidFill>
              <a:srgbClr val="3347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04</c:v>
                  </c:pt>
                  <c:pt idx="1">
                    <c:v>05</c:v>
                  </c:pt>
                  <c:pt idx="2">
                    <c:v>06</c:v>
                  </c:pt>
                  <c:pt idx="3">
                    <c:v>07</c:v>
                  </c:pt>
                  <c:pt idx="4">
                    <c:v>08</c:v>
                  </c:pt>
                  <c:pt idx="5">
                    <c:v>09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</c:v>
                </c:pt>
                <c:pt idx="1">
                  <c:v>99</c:v>
                </c:pt>
                <c:pt idx="2">
                  <c:v>99</c:v>
                </c:pt>
                <c:pt idx="3">
                  <c:v>99</c:v>
                </c:pt>
                <c:pt idx="4">
                  <c:v>99</c:v>
                </c:pt>
                <c:pt idx="5">
                  <c:v>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Force</c:v>
                </c:pt>
              </c:strCache>
            </c:strRef>
          </c:tx>
          <c:spPr>
            <a:solidFill>
              <a:srgbClr val="2E7D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04</c:v>
                  </c:pt>
                  <c:pt idx="1">
                    <c:v>05</c:v>
                  </c:pt>
                  <c:pt idx="2">
                    <c:v>06</c:v>
                  </c:pt>
                  <c:pt idx="3">
                    <c:v>07</c:v>
                  </c:pt>
                  <c:pt idx="4">
                    <c:v>08</c:v>
                  </c:pt>
                  <c:pt idx="5">
                    <c:v>09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77</c:v>
                </c:pt>
                <c:pt idx="1">
                  <c:v>74</c:v>
                </c:pt>
                <c:pt idx="2">
                  <c:v>76</c:v>
                </c:pt>
                <c:pt idx="3">
                  <c:v>77</c:v>
                </c:pt>
                <c:pt idx="4">
                  <c:v>78</c:v>
                </c:pt>
                <c:pt idx="5">
                  <c:v>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 capacitance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04</c:v>
                  </c:pt>
                  <c:pt idx="1">
                    <c:v>05</c:v>
                  </c:pt>
                  <c:pt idx="2">
                    <c:v>06</c:v>
                  </c:pt>
                  <c:pt idx="3">
                    <c:v>07</c:v>
                  </c:pt>
                  <c:pt idx="4">
                    <c:v>08</c:v>
                  </c:pt>
                  <c:pt idx="5">
                    <c:v>09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45</c:v>
                </c:pt>
                <c:pt idx="1">
                  <c:v>46</c:v>
                </c:pt>
                <c:pt idx="2">
                  <c:v>48</c:v>
                </c:pt>
                <c:pt idx="3">
                  <c:v>49</c:v>
                </c:pt>
                <c:pt idx="4">
                  <c:v>36</c:v>
                </c:pt>
                <c:pt idx="5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C7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C7A"/>
                    </a:solidFill>
                    <a:latin typeface="Arial"/>
                  </a:rPr>
                  <a:t>Trial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D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63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63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631"/>
                </a:solidFill>
                <a:latin typeface="+mn-lt"/>
              </a:rPr>
              <a:t>Leave-one-trial-out, 8 s windows, trials 04–09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Capacitance</c:v>
                </c:pt>
              </c:strCache>
            </c:strRef>
          </c:tx>
          <c:spPr>
            <a:solidFill>
              <a:srgbClr val="B8C4C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63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Displacement R²</c:v>
                  </c:pt>
                  <c:pt idx="1">
                    <c:v>Force R²</c:v>
                  </c:pt>
                  <c:pt idx="2">
                    <c:v>Loading vs unloading accuracy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0.88</c:v>
                </c:pt>
                <c:pt idx="1">
                  <c:v>0.55</c:v>
                </c:pt>
                <c:pt idx="2">
                  <c:v>0.644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direction</c:v>
                </c:pt>
              </c:strCache>
            </c:strRef>
          </c:tx>
          <c:spPr>
            <a:solidFill>
              <a:srgbClr val="2E7D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63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Displacement R²</c:v>
                  </c:pt>
                  <c:pt idx="1">
                    <c:v>Force R²</c:v>
                  </c:pt>
                  <c:pt idx="2">
                    <c:v>Loading vs unloading accuracy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0.885</c:v>
                </c:pt>
                <c:pt idx="1">
                  <c:v>0.691</c:v>
                </c:pt>
                <c:pt idx="2">
                  <c:v>0.9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+ direction + FastTDA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63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Displacement R²</c:v>
                  </c:pt>
                  <c:pt idx="1">
                    <c:v>Force R²</c:v>
                  </c:pt>
                  <c:pt idx="2">
                    <c:v>Loading vs unloading accuracy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0.908</c:v>
                </c:pt>
                <c:pt idx="1">
                  <c:v>0.693</c:v>
                </c:pt>
                <c:pt idx="2">
                  <c:v>0.956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63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DE3E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63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replace or complement the MTS load frame with the SEC capacitive sensor. Target = MTS displacement and force. Trials 04–09 are 160 s of 40 s triangle loading, aligned to SEC by cross-correlation (offset 8.9–10.1 s, |r| 0.86–0.90). Trials 01–03 are short single ramps with alignment |r| 0.30–0.58, so they are reported but not trusted. Capacitance is zeroed per trial (trial 04 baseline sits ≈0.15 pF higher).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Full-record FFT (Python port of the MATLAB code, mean removed, |fft| over 0..Nyquist). A peak counts as dominant if it holds at least 20% of spectral power and fits at least 3 cycles in the record. SEC carries less of its power at 0.025 Hz (32–49%) because of its 0.05 Hz harmonic and low-frequency drift; trial 09 SEC reads 0.0254 Hz only because of bin resolution. This 40 s period sets the TDA window: 1 period = 40 s window, ¼ period = 10 s Takens delay.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Cubic SEC-to-target calibration. Own-trial R² for displacement 0.77–0.82 and other-trial R² 0.75–0.82: the calibration transfers between trials with almost no loss. Coherence with displacement 0.79–0.85 and with force 0.82–0.85. Force is harder because of its hysteresis and snap-through, which a one-to-one capacitance curve cannot represent. Trials 01–03 (red rows) fail: other-trial R² is negative.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FastTDA: Takens embedding (dim 2), SVD least-squares ellipse fit, feature = minor axis 2b. Validation uses non-overlapping windows, leave-one-trial-out linear models, circular-shift permutation tests and partial Spearman given capacitance. FastTDA alone scores 0.59 on loading vs unloading (chance 0.60), because the loop shape is time-reversal invariant and min-max scaled. Its value is as a complement. FastTDA tracks the 40 s displacement profile well in trials 04–07 (rho 0.84–0.93) but only 0.50–0.55 in 08–09. Next steps: more trials, more load amplitudes, and testing the force gain on new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_ONLY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SEC capacitance vs MTS load frame  ·  trials 01–09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SEC capacitance vs MTS load frame  ·  trials 01–09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SEC capacitance tracks how far the tire is pressed</a:t>
            </a:r>
            <a:endParaRPr lang="en-US" sz="36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11887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Can the SEC sensor stand in for the MTS load frame? The MTS presses 0 → −50.8 mm in a 40 s triangle cycle (force to ≈ −350 N) while SEC records capacitance C1.</a:t>
            </a:r>
            <a:endParaRPr lang="en-US" sz="1600" dirty="0"/>
          </a:p>
        </p:txBody>
      </p:sp>
      <p:sp>
        <p:nvSpPr>
          <p:cNvPr id="4" name="Trials value"/>
          <p:cNvSpPr txBox="1"/>
          <p:nvPr/>
        </p:nvSpPr>
        <p:spPr>
          <a:xfrm>
            <a:off x="548640" y="21488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9</a:t>
            </a:r>
            <a:endParaRPr lang="en-US" sz="4000" dirty="0"/>
          </a:p>
        </p:txBody>
      </p:sp>
      <p:sp>
        <p:nvSpPr>
          <p:cNvPr id="5" name="Trials label"/>
          <p:cNvSpPr txBox="1"/>
          <p:nvPr/>
        </p:nvSpPr>
        <p:spPr>
          <a:xfrm>
            <a:off x="54864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trials usable (04–09); 01–03 are 60 s single ramps that will not align</a:t>
            </a:r>
            <a:endParaRPr lang="en-US" sz="1400" dirty="0"/>
          </a:p>
        </p:txBody>
      </p:sp>
      <p:sp>
        <p:nvSpPr>
          <p:cNvPr id="6" name="Linear fit value"/>
          <p:cNvSpPr txBox="1"/>
          <p:nvPr/>
        </p:nvSpPr>
        <p:spPr>
          <a:xfrm>
            <a:off x="548640" y="36118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0.77–0.81</a:t>
            </a:r>
            <a:endParaRPr lang="en-US" sz="4000" dirty="0"/>
          </a:p>
        </p:txBody>
      </p:sp>
      <p:sp>
        <p:nvSpPr>
          <p:cNvPr id="7" name="Linear fit label"/>
          <p:cNvSpPr txBox="1"/>
          <p:nvPr/>
        </p:nvSpPr>
        <p:spPr>
          <a:xfrm>
            <a:off x="548640" y="4343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capacitance vs displacement, straight-line fit per trial</a:t>
            </a:r>
            <a:endParaRPr lang="en-US" sz="1400" dirty="0"/>
          </a:p>
        </p:txBody>
      </p:sp>
      <p:sp>
        <p:nvSpPr>
          <p:cNvPr id="8" name="Hysteresis value"/>
          <p:cNvSpPr txBox="1"/>
          <p:nvPr/>
        </p:nvSpPr>
        <p:spPr>
          <a:xfrm>
            <a:off x="548640" y="50749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≈150 N</a:t>
            </a:r>
            <a:endParaRPr lang="en-US" sz="4000" dirty="0"/>
          </a:p>
        </p:txBody>
      </p:sp>
      <p:sp>
        <p:nvSpPr>
          <p:cNvPr id="9" name="Hysteresis label"/>
          <p:cNvSpPr txBox="1"/>
          <p:nvPr/>
        </p:nvSpPr>
        <p:spPr>
          <a:xfrm>
            <a:off x="548640" y="5806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force hysteresis loop; capacitance shows very little</a:t>
            </a:r>
            <a:endParaRPr lang="en-US" sz="1400" dirty="0"/>
          </a:p>
        </p:txBody>
      </p:sp>
      <p:sp>
        <p:nvSpPr>
          <p:cNvPr id="10" name="Figure card"/>
          <p:cNvSpPr/>
          <p:nvPr/>
        </p:nvSpPr>
        <p:spPr>
          <a:xfrm>
            <a:off x="4526280" y="2057400"/>
            <a:ext cx="7086600" cy="4069080"/>
          </a:xfrm>
          <a:prstGeom prst="roundRect">
            <a:avLst>
              <a:gd name="adj" fmla="val 269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Capacitance and force vs displacement" descr="SEC_MTS_cap_force_vs_dis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2148840"/>
            <a:ext cx="6812280" cy="3434368"/>
          </a:xfrm>
          <a:prstGeom prst="rect">
            <a:avLst/>
          </a:prstGeom>
        </p:spPr>
      </p:pic>
      <p:sp>
        <p:nvSpPr>
          <p:cNvPr id="12" name="Figure caption"/>
          <p:cNvSpPr txBox="1"/>
          <p:nvPr/>
        </p:nvSpPr>
        <p:spPr>
          <a:xfrm>
            <a:off x="4663440" y="5596128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Top: S-shaped capacitance curve, flat beyond −30 mm. Bottom: force loops with a snap-through near −20 mm.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One frequency drives the system: 0.025 Hz</a:t>
            </a:r>
            <a:endParaRPr lang="en-US" sz="3600" dirty="0"/>
          </a:p>
        </p:txBody>
      </p:sp>
      <p:sp>
        <p:nvSpPr>
          <p:cNvPr id="3" name="FFT card"/>
          <p:cNvSpPr/>
          <p:nvPr/>
        </p:nvSpPr>
        <p:spPr>
          <a:xfrm>
            <a:off x="548640" y="1325880"/>
            <a:ext cx="5074920" cy="4892040"/>
          </a:xfrm>
          <a:prstGeom prst="roundRect">
            <a:avLst>
              <a:gd name="adj" fmla="val 22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Trial 05 full-length FFT" descr="trial_05_full_f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4796367" cy="4709160"/>
          </a:xfrm>
          <a:prstGeom prst="rect">
            <a:avLst/>
          </a:prstGeom>
        </p:spPr>
      </p:pic>
      <p:graphicFrame>
        <p:nvGraphicFramePr>
          <p:cNvPr id="5" name="Power share chart" descr=""/>
          <p:cNvGraphicFramePr/>
          <p:nvPr/>
        </p:nvGraphicFramePr>
        <p:xfrm>
          <a:off x="5943600" y="1280160"/>
          <a:ext cx="56692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Fourier takeaways"/>
          <p:cNvSpPr txBox="1"/>
          <p:nvPr/>
        </p:nvSpPr>
        <p:spPr>
          <a:xfrm>
            <a:off x="5943600" y="4434840"/>
            <a:ext cx="5669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40 s peak in SEC, displacement and force in every trial 04–09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Harmonics: displacement odd only (triangle wave); force and SEC add 0.05 Hz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Over 99% of energy lies below 0.5 Hz, so the test is quasi-static with no resonances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Trials 01–03 have no dominant peak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SEC predicts displacement with R² ≈ 0.8 across trials</a:t>
            </a:r>
            <a:endParaRPr lang="en-US" sz="3600" dirty="0"/>
          </a:p>
        </p:txBody>
      </p:sp>
      <p:sp>
        <p:nvSpPr>
          <p:cNvPr id="3" name="Matrix card"/>
          <p:cNvSpPr/>
          <p:nvPr/>
        </p:nvSpPr>
        <p:spPr>
          <a:xfrm>
            <a:off x="548640" y="1325880"/>
            <a:ext cx="7589520" cy="4892040"/>
          </a:xfrm>
          <a:prstGeom prst="roundRect">
            <a:avLst>
              <a:gd name="adj" fmla="val 22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Performance matrix" descr="SEC_MTS_performance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7370064" cy="4306223"/>
          </a:xfrm>
          <a:prstGeom prst="rect">
            <a:avLst/>
          </a:prstGeom>
        </p:spPr>
      </p:pic>
      <p:sp>
        <p:nvSpPr>
          <p:cNvPr id="5" name="Stat 1"/>
          <p:cNvSpPr/>
          <p:nvPr/>
        </p:nvSpPr>
        <p:spPr>
          <a:xfrm>
            <a:off x="8503920" y="1325880"/>
            <a:ext cx="31089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Correlation value"/>
          <p:cNvSpPr txBox="1"/>
          <p:nvPr/>
        </p:nvSpPr>
        <p:spPr>
          <a:xfrm>
            <a:off x="8732520" y="13258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0.86–0.90</a:t>
            </a:r>
            <a:endParaRPr lang="en-US" sz="4000" dirty="0"/>
          </a:p>
        </p:txBody>
      </p:sp>
      <p:sp>
        <p:nvSpPr>
          <p:cNvPr id="7" name="Correlation label"/>
          <p:cNvSpPr txBox="1"/>
          <p:nvPr/>
        </p:nvSpPr>
        <p:spPr>
          <a:xfrm>
            <a:off x="8732520" y="2057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|r| with displacement, trials 04–09</a:t>
            </a:r>
            <a:endParaRPr lang="en-US" sz="1400" dirty="0"/>
          </a:p>
        </p:txBody>
      </p:sp>
      <p:sp>
        <p:nvSpPr>
          <p:cNvPr id="8" name="Stat 2"/>
          <p:cNvSpPr/>
          <p:nvPr/>
        </p:nvSpPr>
        <p:spPr>
          <a:xfrm>
            <a:off x="8503920" y="3017520"/>
            <a:ext cx="31089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ransfer value"/>
          <p:cNvSpPr txBox="1"/>
          <p:nvPr/>
        </p:nvSpPr>
        <p:spPr>
          <a:xfrm>
            <a:off x="8732520" y="3017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0.75–0.82</a:t>
            </a:r>
            <a:endParaRPr lang="en-US" sz="4000" dirty="0"/>
          </a:p>
        </p:txBody>
      </p:sp>
      <p:sp>
        <p:nvSpPr>
          <p:cNvPr id="10" name="Transfer label"/>
          <p:cNvSpPr txBox="1"/>
          <p:nvPr/>
        </p:nvSpPr>
        <p:spPr>
          <a:xfrm>
            <a:off x="873252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R² when calibrated on the other trials</a:t>
            </a:r>
            <a:endParaRPr lang="en-US" sz="1400" dirty="0"/>
          </a:p>
        </p:txBody>
      </p:sp>
      <p:sp>
        <p:nvSpPr>
          <p:cNvPr id="11" name="Stat 3"/>
          <p:cNvSpPr/>
          <p:nvPr/>
        </p:nvSpPr>
        <p:spPr>
          <a:xfrm>
            <a:off x="8503920" y="4709160"/>
            <a:ext cx="31089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Force value"/>
          <p:cNvSpPr txBox="1"/>
          <p:nvPr/>
        </p:nvSpPr>
        <p:spPr>
          <a:xfrm>
            <a:off x="8732520" y="47091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0.60–0.75</a:t>
            </a:r>
            <a:endParaRPr lang="en-US" sz="4000" dirty="0"/>
          </a:p>
        </p:txBody>
      </p:sp>
      <p:sp>
        <p:nvSpPr>
          <p:cNvPr id="13" name="Force label"/>
          <p:cNvSpPr txBox="1"/>
          <p:nvPr/>
        </p:nvSpPr>
        <p:spPr>
          <a:xfrm>
            <a:off x="8732520" y="5440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R² for force (other trials): weaker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FastTDA adds loop shape that capacitance misses</a:t>
            </a:r>
            <a:endParaRPr lang="en-US" sz="3600" dirty="0"/>
          </a:p>
        </p:txBody>
      </p:sp>
      <p:sp>
        <p:nvSpPr>
          <p:cNvPr id="3" name="Chart card"/>
          <p:cNvSpPr/>
          <p:nvPr/>
        </p:nvSpPr>
        <p:spPr>
          <a:xfrm>
            <a:off x="548640" y="1325880"/>
            <a:ext cx="6583680" cy="4892040"/>
          </a:xfrm>
          <a:prstGeom prst="roundRect">
            <a:avLst>
              <a:gd name="adj" fmla="val 22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graphicFrame>
        <p:nvGraphicFramePr>
          <p:cNvPr id="4" name="Validation chart" descr=""/>
          <p:cNvGraphicFramePr/>
          <p:nvPr/>
        </p:nvGraphicFramePr>
        <p:xfrm>
          <a:off x="731520" y="1463040"/>
          <a:ext cx="621792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ontribution header"/>
          <p:cNvSpPr txBox="1"/>
          <p:nvPr/>
        </p:nvSpPr>
        <p:spPr>
          <a:xfrm>
            <a:off x="7498080" y="1325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TDA contributes</a:t>
            </a:r>
            <a:endParaRPr lang="en-US" sz="2000" dirty="0"/>
          </a:p>
        </p:txBody>
      </p:sp>
      <p:sp>
        <p:nvSpPr>
          <p:cNvPr id="6" name="Contributions"/>
          <p:cNvSpPr txBox="1"/>
          <p:nvPr/>
        </p:nvSpPr>
        <p:spPr>
          <a:xfrm>
            <a:off x="7498080" y="1783080"/>
            <a:ext cx="4114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Displacement R² 0.88 → 0.91 on held-out trials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Direction accuracy 0.90 → 0.96 alongside the capacitance slope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Window set by physics: one 40 s loading period, 10 s delay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About 100× faster than VR or Alpha persistence</a:t>
            </a:r>
            <a:endParaRPr lang="en-US" sz="1400" dirty="0"/>
          </a:p>
        </p:txBody>
      </p:sp>
      <p:sp>
        <p:nvSpPr>
          <p:cNvPr id="7" name="Limits header"/>
          <p:cNvSpPr txBox="1"/>
          <p:nvPr/>
        </p:nvSpPr>
        <p:spPr>
          <a:xfrm>
            <a:off x="7498080" y="3703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</a:t>
            </a:r>
            <a:endParaRPr lang="en-US" sz="2000" dirty="0"/>
          </a:p>
        </p:txBody>
      </p:sp>
      <p:sp>
        <p:nvSpPr>
          <p:cNvPr id="8" name="Limits"/>
          <p:cNvSpPr txBox="1"/>
          <p:nvPr/>
        </p:nvSpPr>
        <p:spPr>
          <a:xfrm>
            <a:off x="7498080" y="4160520"/>
            <a:ext cx="4114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Blind to level and direction: alone it is at chance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Force gain did not replicate (0.691 → 0.693)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Ellipse fit fails on 25–48% of short windows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6 usable trials, one amplitude: preliminary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 Signal">
  <a:themeElements>
    <a:clrScheme name="SEC Signal">
      <a:dk1>
        <a:srgbClr val="1B2631"/>
      </a:dk1>
      <a:lt1>
        <a:srgbClr val="FFFFFF"/>
      </a:lt1>
      <a:dk2>
        <a:srgbClr val="33475B"/>
      </a:dk2>
      <a:lt2>
        <a:srgbClr val="EEF2F5"/>
      </a:lt2>
      <a:accent1>
        <a:srgbClr val="E4572E"/>
      </a:accent1>
      <a:accent2>
        <a:srgbClr val="2E7D8C"/>
      </a:accent2>
      <a:accent3>
        <a:srgbClr val="8A9BA8"/>
      </a:accent3>
      <a:accent4>
        <a:srgbClr val="F2A541"/>
      </a:accent4>
      <a:accent5>
        <a:srgbClr val="5B6C7A"/>
      </a:accent5>
      <a:accent6>
        <a:srgbClr val="B8C4CC"/>
      </a:accent6>
      <a:hlink>
        <a:srgbClr val="2E7D8C"/>
      </a:hlink>
      <a:folHlink>
        <a:srgbClr val="5B6C7A"/>
      </a:folHlink>
    </a:clrScheme>
    <a:fontScheme name="SEC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 sensor vs MTS: Fourier and FastTDA findings</dc:title>
  <dc:subject>PptxGenJS Presentation</dc:subject>
  <dc:creator>PptxGenJS</dc:creator>
  <cp:lastModifiedBy>PptxGenJS</cp:lastModifiedBy>
  <cp:revision>1</cp:revision>
  <dcterms:created xsi:type="dcterms:W3CDTF">2026-10-22T18:18:52Z</dcterms:created>
  <dcterms:modified xsi:type="dcterms:W3CDTF">2026-10-22T18:18:52Z</dcterms:modified>
</cp:coreProperties>
</file>